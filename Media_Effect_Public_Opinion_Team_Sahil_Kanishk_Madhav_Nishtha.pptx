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0" type="dt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1" type="ftr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jp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42" name="Google Shape;42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3" name="Google Shape;43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6" name="Google Shape;46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9" name="Google Shape;49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52" name="Google Shape;52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 xml:space="preserve"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092050"/>
            <a:ext cx="9144000" cy="4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Media’s Effect on Public Opinion:</a:t>
            </a:r>
            <a:b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Survey-Based Analysis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Sahil (2210992209)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Kanishk (2210991739)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Madhav (2210991864)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Nishtha (2210991994)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Preeti Saini, Department of CSE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/>
        </p:nvSpPr>
        <p:spPr>
          <a:xfrm>
            <a:off x="190500" y="190500"/>
            <a:ext cx="8763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" name="Google Shape;80;p10"/>
          <p:cNvGrpSpPr/>
          <p:nvPr/>
        </p:nvGrpSpPr>
        <p:grpSpPr>
          <a:xfrm>
            <a:off x="381000" y="1333446"/>
            <a:ext cx="4334100" cy="3613309"/>
            <a:chOff x="381000" y="1333500"/>
            <a:chExt cx="4334100" cy="2857500"/>
          </a:xfrm>
        </p:grpSpPr>
        <p:sp>
          <p:nvSpPr>
            <p:cNvPr id="81" name="Google Shape;81;p10"/>
            <p:cNvSpPr/>
            <p:nvPr/>
          </p:nvSpPr>
          <p:spPr>
            <a:xfrm>
              <a:off x="381000" y="1333500"/>
              <a:ext cx="4048200" cy="2857500"/>
            </a:xfrm>
            <a:prstGeom prst="roundRect">
              <a:avLst>
                <a:gd fmla="val 5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0"/>
            <p:cNvSpPr txBox="1"/>
            <p:nvPr/>
          </p:nvSpPr>
          <p:spPr>
            <a:xfrm>
              <a:off x="571500" y="1523994"/>
              <a:ext cx="4143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Background</a:t>
              </a:r>
              <a:endParaRPr b="1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83;p10"/>
            <p:cNvSpPr txBox="1"/>
            <p:nvPr/>
          </p:nvSpPr>
          <p:spPr>
            <a:xfrm>
              <a:off x="571500" y="2000250"/>
              <a:ext cx="36672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 xml:space="preserve">• </a:t>
              </a: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 media plays a pivotal role in shaping public perception, attitudes, and political discourse in modern democracies.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The rise of social media, algorithmic curation, and digital platforms has amplified media’s influence on opinion formation.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Misinformation, filter bubbles, and biased reporting raise serious concerns about democratic deliberation and informed citizenship.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4" name="Google Shape;84;p10"/>
          <p:cNvGrpSpPr/>
          <p:nvPr/>
        </p:nvGrpSpPr>
        <p:grpSpPr>
          <a:xfrm>
            <a:off x="4714875" y="1333537"/>
            <a:ext cx="4334100" cy="3613423"/>
            <a:chOff x="4714875" y="1333500"/>
            <a:chExt cx="4334100" cy="4381500"/>
          </a:xfrm>
        </p:grpSpPr>
        <p:sp>
          <p:nvSpPr>
            <p:cNvPr id="85" name="Google Shape;85;p10"/>
            <p:cNvSpPr/>
            <p:nvPr/>
          </p:nvSpPr>
          <p:spPr>
            <a:xfrm>
              <a:off x="4714875" y="1333500"/>
              <a:ext cx="4048200" cy="4381500"/>
            </a:xfrm>
            <a:prstGeom prst="roundRect">
              <a:avLst>
                <a:gd fmla="val 3529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4905375" y="1524009"/>
              <a:ext cx="4143600" cy="50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endParaRPr b="1" sz="18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0"/>
            <p:cNvSpPr txBox="1"/>
            <p:nvPr/>
          </p:nvSpPr>
          <p:spPr>
            <a:xfrm>
              <a:off x="4905375" y="2209440"/>
              <a:ext cx="3667200" cy="331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Examine major theories of media influence: agenda-setting, framing, social amplification of risk, and uses and gratifications.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Conduct a primary survey on public perceptions of media credibility, trust, and political influence.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Compare the impact of traditional versus digital media channels on opinion formation.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Identify how individual factors like media literacy and political knowledge moderate these effects.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" name="Google Shape;88;p10"/>
          <p:cNvSpPr txBox="1"/>
          <p:nvPr/>
        </p:nvSpPr>
        <p:spPr>
          <a:xfrm>
            <a:off x="6769389" y="6592491"/>
            <a:ext cx="21333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/>
        </p:nvSpPr>
        <p:spPr>
          <a:xfrm>
            <a:off x="190500" y="190500"/>
            <a:ext cx="8763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&amp; Framework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190500" y="952500"/>
            <a:ext cx="4286400" cy="165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Methodology: Primary Data Collection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questionnaire deployed via Google Forms across diverse respondents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Mixed-method: Likert scales, multi-select, and open-ended response items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Themes: media trust, fact-checking, platform usage, perceived bias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Times New Roman"/>
              <a:buChar char="●"/>
            </a:pPr>
            <a:r>
              <a:rPr b="0" lang="en-US"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tabulation supplemented by literature synthesis from 50+ years of research</a:t>
            </a:r>
            <a:endParaRPr b="0"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1"/>
          <p:cNvPicPr preferRelativeResize="0"/>
          <p:nvPr/>
        </p:nvPicPr>
        <p:blipFill rotWithShape="1">
          <a:blip r:embed="rId4">
            <a:alphaModFix/>
          </a:blip>
          <a:srcRect b="5556" l="0" r="0" t="5556"/>
          <a:stretch/>
        </p:blipFill>
        <p:spPr>
          <a:xfrm>
            <a:off x="4953000" y="952500"/>
            <a:ext cx="3810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/>
          <p:nvPr/>
        </p:nvSpPr>
        <p:spPr>
          <a:xfrm>
            <a:off x="190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6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/>
          <p:nvPr/>
        </p:nvSpPr>
        <p:spPr>
          <a:xfrm>
            <a:off x="1714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2980B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Reach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0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3238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Responses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4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4762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8E44A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(Statistics)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48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/>
          <p:nvPr/>
        </p:nvSpPr>
        <p:spPr>
          <a:xfrm>
            <a:off x="6286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E67E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72375" y="3848100"/>
            <a:ext cx="190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7810500" y="3524250"/>
            <a:ext cx="1238400" cy="666900"/>
          </a:xfrm>
          <a:prstGeom prst="roundRect">
            <a:avLst>
              <a:gd fmla="val 11428" name="adj"/>
            </a:avLst>
          </a:prstGeom>
          <a:solidFill>
            <a:srgbClr val="27A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Findings</a:t>
            </a:r>
            <a:b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Insights</a:t>
            </a:r>
            <a:endParaRPr b="1" sz="1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190500" y="4690200"/>
            <a:ext cx="8763000" cy="785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875" lIns="142875" spcFirstLastPara="1" rIns="142875" wrap="square" tIns="14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Frameworks Examined</a:t>
            </a:r>
            <a:endParaRPr b="1" sz="14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Agenda-Setting | Framing Theory | Social Amplification of Risk | Uses &amp; Gratifications</a:t>
            </a:r>
            <a:endParaRPr b="0" sz="12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285750" y="285750"/>
            <a:ext cx="8572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 News Topic Salience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4">
            <a:alphaModFix/>
          </a:blip>
          <a:srcRect b="0" l="20" r="10" t="0"/>
          <a:stretch/>
        </p:blipFill>
        <p:spPr>
          <a:xfrm>
            <a:off x="285750" y="1047750"/>
            <a:ext cx="4953000" cy="40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2"/>
          <p:cNvGrpSpPr/>
          <p:nvPr/>
        </p:nvGrpSpPr>
        <p:grpSpPr>
          <a:xfrm>
            <a:off x="5524500" y="1047750"/>
            <a:ext cx="3333900" cy="1428900"/>
            <a:chOff x="5524500" y="1047750"/>
            <a:chExt cx="3333900" cy="1428900"/>
          </a:xfrm>
        </p:grpSpPr>
        <p:sp>
          <p:nvSpPr>
            <p:cNvPr id="117" name="Google Shape;117;p12"/>
            <p:cNvSpPr/>
            <p:nvPr/>
          </p:nvSpPr>
          <p:spPr>
            <a:xfrm>
              <a:off x="5524500" y="1047750"/>
              <a:ext cx="3333900" cy="14289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2"/>
            <p:cNvSpPr txBox="1"/>
            <p:nvPr/>
          </p:nvSpPr>
          <p:spPr>
            <a:xfrm>
              <a:off x="5667375" y="1143000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Takeaways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✓ Social Issues and Science &amp; Tech tied at 68.4% importance</a:t>
              </a:r>
              <a:endParaRPr b="0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✓ Politics and Entertainment closely follow at 63.2% each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74C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✗ Health (36.8%) and Economics (42.1%) receive the least attention</a:t>
              </a:r>
              <a:endParaRPr b="0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9" name="Google Shape;119;p12"/>
          <p:cNvGrpSpPr/>
          <p:nvPr/>
        </p:nvGrpSpPr>
        <p:grpSpPr>
          <a:xfrm>
            <a:off x="5524500" y="2619375"/>
            <a:ext cx="3333900" cy="1238400"/>
            <a:chOff x="5524500" y="2619375"/>
            <a:chExt cx="3333900" cy="1238400"/>
          </a:xfrm>
        </p:grpSpPr>
        <p:sp>
          <p:nvSpPr>
            <p:cNvPr id="120" name="Google Shape;120;p12"/>
            <p:cNvSpPr/>
            <p:nvPr/>
          </p:nvSpPr>
          <p:spPr>
            <a:xfrm>
              <a:off x="5524500" y="2619375"/>
              <a:ext cx="3333900" cy="1238400"/>
            </a:xfrm>
            <a:prstGeom prst="roundRect">
              <a:avLst>
                <a:gd fmla="val 7692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2"/>
            <p:cNvSpPr txBox="1"/>
            <p:nvPr/>
          </p:nvSpPr>
          <p:spPr>
            <a:xfrm>
              <a:off x="5667375" y="271462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Theoretical Lens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74C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Agenda-setting: media salience drives public salience</a:t>
              </a:r>
              <a:endParaRPr b="0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Topics with high coverage rank higher in importance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27AE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Audiences favor progressive, future-oriented content</a:t>
              </a:r>
              <a:endParaRPr b="0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2" name="Google Shape;122;p12"/>
          <p:cNvGrpSpPr/>
          <p:nvPr/>
        </p:nvGrpSpPr>
        <p:grpSpPr>
          <a:xfrm>
            <a:off x="5524500" y="4000500"/>
            <a:ext cx="3333900" cy="1143000"/>
            <a:chOff x="5524500" y="4000500"/>
            <a:chExt cx="3333900" cy="1143000"/>
          </a:xfrm>
        </p:grpSpPr>
        <p:sp>
          <p:nvSpPr>
            <p:cNvPr id="123" name="Google Shape;123;p12"/>
            <p:cNvSpPr/>
            <p:nvPr/>
          </p:nvSpPr>
          <p:spPr>
            <a:xfrm>
              <a:off x="5524500" y="4000500"/>
              <a:ext cx="3333900" cy="1143000"/>
            </a:xfrm>
            <a:prstGeom prst="roundRect">
              <a:avLst>
                <a:gd fmla="val 8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2"/>
            <p:cNvSpPr txBox="1"/>
            <p:nvPr/>
          </p:nvSpPr>
          <p:spPr>
            <a:xfrm>
              <a:off x="5667375" y="409575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Political Influence</a:t>
              </a:r>
              <a:endParaRPr b="1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Most rate media’s political influence 6 to 9 of 10</a:t>
              </a:r>
              <a:endParaRPr b="0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Strong agenda-setting effect on political narratives</a:t>
              </a:r>
              <a:endParaRPr b="1" sz="12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5" name="Google Shape;125;p12"/>
          <p:cNvGrpSpPr/>
          <p:nvPr/>
        </p:nvGrpSpPr>
        <p:grpSpPr>
          <a:xfrm>
            <a:off x="285750" y="5334000"/>
            <a:ext cx="8572500" cy="762000"/>
            <a:chOff x="285750" y="5334000"/>
            <a:chExt cx="8572500" cy="762000"/>
          </a:xfrm>
        </p:grpSpPr>
        <p:sp>
          <p:nvSpPr>
            <p:cNvPr id="126" name="Google Shape;126;p12"/>
            <p:cNvSpPr/>
            <p:nvPr/>
          </p:nvSpPr>
          <p:spPr>
            <a:xfrm>
              <a:off x="285750" y="5334000"/>
              <a:ext cx="8572500" cy="762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 txBox="1"/>
            <p:nvPr/>
          </p:nvSpPr>
          <p:spPr>
            <a:xfrm>
              <a:off x="285750" y="533400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Conclusion: Topic salience in media coverage strongly predicts public attention, with social and political content dominating perceived importance.</a:t>
              </a:r>
              <a:endParaRPr b="1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285750" y="202600"/>
            <a:ext cx="8572500" cy="44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Drivers: What Shapes Credibility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143000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4762500" y="1143000"/>
            <a:ext cx="4095900" cy="2286000"/>
          </a:xfrm>
          <a:prstGeom prst="roundRect">
            <a:avLst>
              <a:gd fmla="val 4166" name="adj"/>
            </a:avLst>
          </a:prstGeom>
          <a:solidFill>
            <a:srgbClr val="FFFFFF"/>
          </a:solidFill>
          <a:ln cap="flat" cmpd="sng" w="9525">
            <a:solidFill>
              <a:srgbClr val="E9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4905375" y="1285875"/>
            <a:ext cx="38100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Survey Reveals</a:t>
            </a:r>
            <a:endParaRPr b="1" sz="16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credibility</a:t>
            </a: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is the dominant trust driver at 63.2%, ranked top among all attributes.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Fact-checking</a:t>
            </a: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is the second-strongest signal at 57.9%, edging out brand reputation.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27AE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 recommendations and outlet reputation tied at 26.3%, less weight than expected.</a:t>
            </a:r>
            <a:endParaRPr b="0" sz="1100">
              <a:solidFill>
                <a:srgbClr val="27AE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is shifting from brand-based to evidence-based consumption.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762500" y="3619500"/>
            <a:ext cx="4095900" cy="1905000"/>
          </a:xfrm>
          <a:prstGeom prst="roundRect">
            <a:avLst>
              <a:gd fmla="val 5000" name="adj"/>
            </a:avLst>
          </a:prstGeom>
          <a:solidFill>
            <a:srgbClr val="EBF5FB"/>
          </a:solidFill>
          <a:ln cap="flat" cmpd="sng" w="9525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4905375" y="3762375"/>
            <a:ext cx="38100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 Audience Skepticism</a:t>
            </a:r>
            <a:endParaRPr b="1" sz="14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ratings cluster between 5 and 7 of 10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0"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73% demand unbiased reporting from media</a:t>
            </a:r>
            <a:endParaRPr b="0"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2B5C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Reader takeaway: critical thinking is emerging, but verification habits remain inconsistent.</a:t>
            </a:r>
            <a:endParaRPr b="1" sz="11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85750" y="5619750"/>
            <a:ext cx="8572500" cy="7620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00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285750" y="561975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factor analysis shows audiences increasingly value verification and source rigor over brand familiarity.</a:t>
            </a:r>
            <a:endParaRPr b="1" sz="1400">
              <a:solidFill>
                <a:srgbClr val="002B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 xml:space="preserve"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>
            <p:ph idx="1" type="subTitle"/>
          </p:nvPr>
        </p:nvSpPr>
        <p:spPr>
          <a:xfrm>
            <a:off x="0" y="0"/>
            <a:ext cx="27192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 xml:space="preserve"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52875" y="17225"/>
            <a:ext cx="647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Calibration: How Skeptical Are Audiences?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5976675" y="1097280"/>
            <a:ext cx="2926200" cy="2560200"/>
          </a:xfrm>
          <a:prstGeom prst="roundRect">
            <a:avLst>
              <a:gd fmla="val 16667" name="adj"/>
            </a:avLst>
          </a:prstGeom>
          <a:solidFill>
            <a:srgbClr val="EBF5FB"/>
          </a:solidFill>
          <a:ln cap="flat" cmpd="sng" w="9525">
            <a:solidFill>
              <a:srgbClr val="2980B9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ratings cluster between 4 and 7 of 10, none above 8.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BC9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42% rate trust at 4 or 5 of 10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Yet 89.5% still rely on social media for daily news.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274320" y="493776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clear trust-usage gap: audiences distrust social media yet consume it most, signalling the credibility crisis at the heart of digital opinion formation.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 xml:space="preserve"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>
            <p:ph idx="1" type="subTitle"/>
          </p:nvPr>
        </p:nvSpPr>
        <p:spPr>
          <a:xfrm>
            <a:off x="0" y="0"/>
            <a:ext cx="33090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 xml:space="preserve"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285750" y="952500"/>
            <a:ext cx="8572500" cy="1905000"/>
            <a:chOff x="285750" y="952500"/>
            <a:chExt cx="8572500" cy="1905000"/>
          </a:xfrm>
        </p:grpSpPr>
        <p:sp>
          <p:nvSpPr>
            <p:cNvPr id="159" name="Google Shape;159;p15"/>
            <p:cNvSpPr/>
            <p:nvPr/>
          </p:nvSpPr>
          <p:spPr>
            <a:xfrm>
              <a:off x="285750" y="952500"/>
              <a:ext cx="85725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476250" y="1047750"/>
              <a:ext cx="8191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Media exerts substantial influence through agenda-setting, framing, and risk amplification.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Source credibility (63.2%) and fact-checking (57.9%) emerged as the strongest trust drivers.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Social media dominates usage (89.5%) yet trails traditional media on trust.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Filter bubbles, algorithmic curation, and misinformation intensify polarisation.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Times New Roman"/>
                <a:buChar char="●"/>
              </a:pPr>
              <a:r>
                <a:rPr lang="en-US" sz="13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Media literacy and political knowledge significantly moderate exposure effects.</a:t>
              </a:r>
              <a:endParaRPr sz="1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285750" y="3048000"/>
            <a:ext cx="4191000" cy="2286000"/>
            <a:chOff x="285750" y="3048000"/>
            <a:chExt cx="4191000" cy="2286000"/>
          </a:xfrm>
        </p:grpSpPr>
        <p:sp>
          <p:nvSpPr>
            <p:cNvPr id="162" name="Google Shape;162;p15"/>
            <p:cNvSpPr/>
            <p:nvPr/>
          </p:nvSpPr>
          <p:spPr>
            <a:xfrm>
              <a:off x="285750" y="3048000"/>
              <a:ext cx="4191000" cy="2286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476250" y="3238500"/>
              <a:ext cx="3810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Limitations</a:t>
              </a:r>
              <a:endParaRPr b="1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Small sample size limits statistical generalizability across populations.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Self-reported responses may carry social desirability and recall bias.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Cross-sectional design captures attitudes at a single moment, not change over time.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4667250" y="3048000"/>
            <a:ext cx="4191000" cy="2286000"/>
            <a:chOff x="4667250" y="3048000"/>
            <a:chExt cx="4191000" cy="2286000"/>
          </a:xfrm>
        </p:grpSpPr>
        <p:sp>
          <p:nvSpPr>
            <p:cNvPr id="165" name="Google Shape;165;p15"/>
            <p:cNvSpPr/>
            <p:nvPr/>
          </p:nvSpPr>
          <p:spPr>
            <a:xfrm>
              <a:off x="4667250" y="3048000"/>
              <a:ext cx="4191000" cy="2286000"/>
            </a:xfrm>
            <a:prstGeom prst="roundRect">
              <a:avLst>
                <a:gd fmla="val 6250" name="adj"/>
              </a:avLst>
            </a:prstGeom>
            <a:solidFill>
              <a:srgbClr val="EBF5FB"/>
            </a:solidFill>
            <a:ln cap="flat" cmpd="sng" w="9525">
              <a:solidFill>
                <a:srgbClr val="AED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4857750" y="3238500"/>
              <a:ext cx="3810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Scope</a:t>
              </a:r>
              <a:endParaRPr b="1" sz="18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Longitudinal studies tracking opinion shifts across major news cycles.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Cross-national comparison of media systems and their democratic outcomes.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Experimental designs to isolate causal pathways from exposure to belief change.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7" name="Google Shape;167;p15"/>
          <p:cNvSpPr txBox="1"/>
          <p:nvPr/>
        </p:nvSpPr>
        <p:spPr>
          <a:xfrm>
            <a:off x="285750" y="190500"/>
            <a:ext cx="8572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8" name="Google Shape;168;p15"/>
          <p:cNvGrpSpPr/>
          <p:nvPr/>
        </p:nvGrpSpPr>
        <p:grpSpPr>
          <a:xfrm>
            <a:off x="285750" y="5630333"/>
            <a:ext cx="8572500" cy="571500"/>
            <a:chOff x="285750" y="5524500"/>
            <a:chExt cx="8572500" cy="571500"/>
          </a:xfrm>
        </p:grpSpPr>
        <p:sp>
          <p:nvSpPr>
            <p:cNvPr id="169" name="Google Shape;169;p15"/>
            <p:cNvSpPr/>
            <p:nvPr/>
          </p:nvSpPr>
          <p:spPr>
            <a:xfrm>
              <a:off x="285750" y="5524500"/>
              <a:ext cx="8572500" cy="571500"/>
            </a:xfrm>
            <a:prstGeom prst="roundRect">
              <a:avLst>
                <a:gd fmla="val 16666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285750" y="552450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Strengthening media literacy, accountability, and platform transparency to safeguard informed democratic discourse.</a:t>
              </a:r>
              <a:endParaRPr b="1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 xml:space="preserve"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>
            <p:ph idx="1" type="subTitle"/>
          </p:nvPr>
        </p:nvSpPr>
        <p:spPr>
          <a:xfrm>
            <a:off x="0" y="549369"/>
            <a:ext cx="1627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 xml:space="preserve"> 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164000" y="174725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References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64008" y="1308214"/>
            <a:ext cx="88386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McCombs, M. E., &amp; Shaw, D. L., "The agenda-setting function of mass media," Public Opinion Quarterly, 1972.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Entman, R. M., "Framing: Toward clarification of a fractured paradigm," Journal of Communication, 1993.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Kasperson, R. E. et al., "The social amplification of risk: A conceptual framework," Risk Analysis, 1988.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Katz, E., Blumler, J. G., &amp; Gurevitch, M., "Utilization of mass communication by the individual," SAGE, 1974.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Chong, D., &amp; Druckman, J. N., "Framing theory," Annual Review of Political Science, 2007.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Pariser, E., "The filter bubble: What the internet is hiding from you," Penguin Press, 2011.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Cinelli, M. et al., "The COVID-19 social media infodemic," Nature Scientific Reports, 2020.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Zaller, J. R., "The nature and origins of mass opinion," Cambridge University Press, 1992.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van der Linden, S., &amp; Lewandowsky, S., "Countering misinformation through inoculation and prebunking," ERSP, 2021.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297577" y="4846320"/>
            <a:ext cx="670559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2B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297577" y="5486400"/>
            <a:ext cx="6705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Sahil  |  Kanishk  |  Madhav  |  Nishtha  |  Mentor: Mrs. Preeti Saini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